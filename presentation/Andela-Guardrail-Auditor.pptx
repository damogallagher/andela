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3D2E"/>
              </a:gs>
              <a:gs pos="100000">
                <a:srgbClr val="07241B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1280160"/>
            <a:ext cx="3840480" cy="3840480"/>
          </a:xfrm>
          <a:prstGeom prst="ellipse">
            <a:avLst/>
          </a:prstGeom>
          <a:noFill/>
          <a:ln w="25400">
            <a:solidFill>
              <a:srgbClr val="1B5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3931920"/>
            <a:ext cx="2377440" cy="2377440"/>
          </a:xfrm>
          <a:prstGeom prst="ellipse">
            <a:avLst/>
          </a:prstGeom>
          <a:noFill/>
          <a:ln w="25400">
            <a:solidFill>
              <a:srgbClr val="1B5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298448"/>
            <a:ext cx="146304" cy="146304"/>
          </a:xfrm>
          <a:prstGeom prst="ellipse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188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F9D6B"/>
                </a:solidFill>
                <a:latin typeface="Calibri"/>
              </a:rPr>
              <a:t>ANDELA GRADUATE “VIBE CODING” CHALLENGE  ·  PROJECT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6070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5800" b="1" i="0">
                <a:solidFill>
                  <a:srgbClr val="FFFFFF"/>
                </a:solidFill>
                <a:latin typeface="Cambria"/>
              </a:rPr>
              <a:t>Enterprise Security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5800" b="1" i="0">
                <a:solidFill>
                  <a:srgbClr val="FFFFFF"/>
                </a:solidFill>
                <a:latin typeface="Cambria"/>
              </a:rPr>
              <a:t>Guardrail Auditor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977639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0" i="0">
                <a:solidFill>
                  <a:srgbClr val="D9F2E7"/>
                </a:solidFill>
                <a:latin typeface="Cambria"/>
              </a:rPr>
              <a:t>Shift-left security scanning for Infrastructure-as-Code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892040"/>
            <a:ext cx="5257800" cy="548640"/>
          </a:xfrm>
          <a:prstGeom prst="roundRect">
            <a:avLst>
              <a:gd name="adj" fmla="val 50000"/>
            </a:avLst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892040"/>
            <a:ext cx="5257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Tagle Tag  ·  Connector — Foundation Operator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98932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Damien Gallagher</a:t>
            </a:r>
            <a:r>
              <a:rPr sz="1500" b="0" i="0">
                <a:solidFill>
                  <a:srgbClr val="D9F2E7"/>
                </a:solidFill>
                <a:latin typeface="Calibri"/>
              </a:rPr>
              <a:t>       github.com/damogallagher/andela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3D2E"/>
              </a:gs>
              <a:gs pos="100000">
                <a:srgbClr val="07241B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0" y="274320"/>
            <a:ext cx="5486400" cy="6583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2000" b="1" i="0">
                <a:solidFill>
                  <a:srgbClr val="1B5541"/>
                </a:solidFill>
                <a:latin typeface="Cambria"/>
              </a:rPr>
              <a:t>01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2761488"/>
            <a:ext cx="146304" cy="146304"/>
          </a:xfrm>
          <a:prstGeom prst="ellipse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9D6B"/>
                </a:solidFill>
                <a:latin typeface="Calibri"/>
              </a:rPr>
              <a:t>ACT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749807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Cambria"/>
              </a:rPr>
              <a:t>The mandate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663440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D9F2E7"/>
                </a:solidFill>
                <a:latin typeface="Calibri"/>
              </a:rPr>
              <a:t>A “Vibe Coding” exercise: I hold the architectural vision, the AI agent writes every 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9D6B"/>
                </a:solidFill>
                <a:latin typeface="Calibri"/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0F3D2E"/>
                </a:solidFill>
                <a:latin typeface="Cambria"/>
              </a:rPr>
              <a:t>I architect, the AI engineers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AA8A2"/>
                </a:solidFill>
                <a:latin typeface="Calibri"/>
              </a:rPr>
              <a:t>01 · THE MANDATE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43737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AA8A2"/>
                </a:solidFill>
                <a:latin typeface="Calibri"/>
              </a:rPr>
              <a:t>Guardrail Auditor   </a:t>
            </a:r>
            <a:r>
              <a:rPr sz="950" b="1" i="0">
                <a:solidFill>
                  <a:srgbClr val="1F9D6B"/>
                </a:solidFill>
                <a:latin typeface="Calibri"/>
              </a:rPr>
              <a:t>· 01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874519"/>
            <a:ext cx="475488" cy="475488"/>
          </a:xfrm>
          <a:prstGeom prst="ellipse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837943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0F3D2E"/>
                </a:solidFill>
                <a:latin typeface="Calibri"/>
              </a:rPr>
              <a:t>Human-in-the-loop architect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221991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5A6B63"/>
                </a:solidFill>
                <a:latin typeface="Calibri"/>
              </a:rPr>
              <a:t>I set vision, constraints and acceptance criteria; the AI agent wrote 100% of the code — no manual edits.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898648"/>
            <a:ext cx="475488" cy="475488"/>
          </a:xfrm>
          <a:prstGeom prst="ellipse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862072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0F3D2E"/>
                </a:solidFill>
                <a:latin typeface="Calibri"/>
              </a:rPr>
              <a:t>Auditable by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24612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5A6B63"/>
                </a:solidFill>
                <a:latin typeface="Calibri"/>
              </a:rPr>
              <a:t>Every instruction is logged in prompts.md — 58 prompts forming a complete trail from scaffold to production-ready.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922776"/>
            <a:ext cx="475488" cy="475488"/>
          </a:xfrm>
          <a:prstGeom prst="ellipse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886200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0F3D2E"/>
                </a:solidFill>
                <a:latin typeface="Calibri"/>
              </a:rPr>
              <a:t>One agent, end-to-end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270248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5A6B63"/>
                </a:solidFill>
                <a:latin typeface="Calibri"/>
              </a:rPr>
              <a:t>The same AI tool throughout, preserving architectural consistency across every layer of the stack.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946904"/>
            <a:ext cx="475488" cy="475488"/>
          </a:xfrm>
          <a:prstGeom prst="ellipse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910328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0F3D2E"/>
                </a:solidFill>
                <a:latin typeface="Calibri"/>
              </a:rPr>
              <a:t>Time-boxed 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294376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5A6B63"/>
                </a:solidFill>
                <a:latin typeface="Calibri"/>
              </a:rPr>
              <a:t>A 4–6 hour MVP target, shipped as a public repo, a full prompt log, and this generated deck.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815584"/>
            <a:ext cx="10927080" cy="512064"/>
          </a:xfrm>
          <a:prstGeom prst="roundRect">
            <a:avLst>
              <a:gd name="adj" fmla="val 12000"/>
            </a:avLst>
          </a:prstGeom>
          <a:solidFill>
            <a:srgbClr val="EE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815584"/>
            <a:ext cx="104241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1B2A24"/>
                </a:solidFill>
                <a:latin typeface="Calibri"/>
              </a:rPr>
              <a:t>My value was not syntax — it was </a:t>
            </a:r>
            <a:r>
              <a:rPr sz="1500" b="1" i="1">
                <a:solidFill>
                  <a:srgbClr val="0F3D2E"/>
                </a:solidFill>
                <a:latin typeface="Calibri"/>
              </a:rPr>
              <a:t>directing the system: architecture, interfaces, the quality bar, and the trade-offs.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9D6B"/>
                </a:solidFill>
                <a:latin typeface="Calibri"/>
              </a:rP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0F3D2E"/>
                </a:solidFill>
                <a:latin typeface="Cambria"/>
              </a:rPr>
              <a:t>Breaches come from misconfiguration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AA8A2"/>
                </a:solidFill>
                <a:latin typeface="Calibri"/>
              </a:rPr>
              <a:t>01 · THE MANDATE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43737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AA8A2"/>
                </a:solidFill>
                <a:latin typeface="Calibri"/>
              </a:rPr>
              <a:t>Guardrail Auditor   </a:t>
            </a:r>
            <a:r>
              <a:rPr sz="950" b="1" i="0">
                <a:solidFill>
                  <a:srgbClr val="1F9D6B"/>
                </a:solidFill>
                <a:latin typeface="Calibri"/>
              </a:rPr>
              <a:t>·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4406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1B2A24"/>
                </a:solidFill>
                <a:latin typeface="Calibri"/>
              </a:rPr>
              <a:t>Most cloud incidents are not zero-days — they are risky settings that ship in Terraform and CloudFormation before anything ever reaches the cloud.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892040"/>
            <a:ext cx="5440680" cy="1234440"/>
          </a:xfrm>
          <a:prstGeom prst="roundRect">
            <a:avLst>
              <a:gd name="adj" fmla="val 8000"/>
            </a:avLst>
          </a:prstGeom>
          <a:solidFill>
            <a:srgbClr val="0F3D2E"/>
          </a:solidFill>
          <a:ln>
            <a:noFill/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D9F2E7"/>
                </a:solidFill>
                <a:latin typeface="Calibri"/>
              </a:rPr>
              <a:t>The cheapest place to catch them is the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pull request</a:t>
            </a:r>
            <a:r>
              <a:rPr sz="1600" b="0" i="0">
                <a:solidFill>
                  <a:srgbClr val="D9F2E7"/>
                </a:solidFill>
                <a:latin typeface="Calibri"/>
              </a:rPr>
              <a:t> — not production.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755648"/>
            <a:ext cx="2615184" cy="1371600"/>
          </a:xfrm>
          <a:prstGeom prst="roundRect">
            <a:avLst>
              <a:gd name="adj" fmla="val 10000"/>
            </a:avLst>
          </a:prstGeom>
          <a:solidFill>
            <a:srgbClr val="EEF4F1"/>
          </a:solidFill>
          <a:ln>
            <a:noFill/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56248" y="1975104"/>
            <a:ext cx="201168" cy="201168"/>
          </a:xfrm>
          <a:prstGeom prst="ellipse">
            <a:avLst/>
          </a:prstGeom>
          <a:solidFill>
            <a:srgbClr val="C01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67144" y="1938528"/>
            <a:ext cx="19568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3D2E"/>
                </a:solidFill>
                <a:latin typeface="Calibri"/>
              </a:rPr>
              <a:t>Open SSH ingress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4536" y="2414015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A6B63"/>
                </a:solidFill>
                <a:latin typeface="Calibri"/>
              </a:rPr>
              <a:t>Security groups exposing port 22 to 0.0.0.0/0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53144" y="1755648"/>
            <a:ext cx="2615184" cy="1371600"/>
          </a:xfrm>
          <a:prstGeom prst="roundRect">
            <a:avLst>
              <a:gd name="adj" fmla="val 10000"/>
            </a:avLst>
          </a:prstGeom>
          <a:solidFill>
            <a:srgbClr val="EEF4F1"/>
          </a:solidFill>
          <a:ln>
            <a:noFill/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54312" y="1975104"/>
            <a:ext cx="201168" cy="20116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65208" y="1938528"/>
            <a:ext cx="19568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3D2E"/>
                </a:solidFill>
                <a:latin typeface="Calibri"/>
              </a:rPr>
              <a:t>Public S3 buckets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2414015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A6B63"/>
                </a:solidFill>
                <a:latin typeface="Calibri"/>
              </a:rPr>
              <a:t>Public ACLs and disabled versioning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328415"/>
            <a:ext cx="2615184" cy="1371600"/>
          </a:xfrm>
          <a:prstGeom prst="roundRect">
            <a:avLst>
              <a:gd name="adj" fmla="val 10000"/>
            </a:avLst>
          </a:prstGeom>
          <a:solidFill>
            <a:srgbClr val="EEF4F1"/>
          </a:solidFill>
          <a:ln>
            <a:noFill/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56248" y="3547872"/>
            <a:ext cx="201168" cy="20116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67144" y="3511296"/>
            <a:ext cx="19568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3D2E"/>
                </a:solidFill>
                <a:latin typeface="Calibri"/>
              </a:rPr>
              <a:t>Wildcard IAM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74536" y="3986783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A6B63"/>
                </a:solidFill>
                <a:latin typeface="Calibri"/>
              </a:rPr>
              <a:t>Action:* on Resource:* — full privilege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53144" y="3328415"/>
            <a:ext cx="2615184" cy="1371600"/>
          </a:xfrm>
          <a:prstGeom prst="roundRect">
            <a:avLst>
              <a:gd name="adj" fmla="val 10000"/>
            </a:avLst>
          </a:prstGeom>
          <a:solidFill>
            <a:srgbClr val="EEF4F1"/>
          </a:solidFill>
          <a:ln>
            <a:noFill/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54312" y="3547872"/>
            <a:ext cx="201168" cy="201168"/>
          </a:xfrm>
          <a:prstGeom prst="ellipse">
            <a:avLst/>
          </a:prstGeom>
          <a:solidFill>
            <a:srgbClr val="C01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65208" y="3511296"/>
            <a:ext cx="19568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3D2E"/>
                </a:solidFill>
                <a:latin typeface="Calibri"/>
              </a:rPr>
              <a:t>Hardcoded secrets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3986783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A6B63"/>
                </a:solidFill>
                <a:latin typeface="Calibri"/>
              </a:rPr>
              <a:t>Credentials and AWS keys committed to IaC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4901183"/>
            <a:ext cx="2615184" cy="1371600"/>
          </a:xfrm>
          <a:prstGeom prst="roundRect">
            <a:avLst>
              <a:gd name="adj" fmla="val 10000"/>
            </a:avLst>
          </a:prstGeom>
          <a:solidFill>
            <a:srgbClr val="EEF4F1"/>
          </a:solidFill>
          <a:ln>
            <a:noFill/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56248" y="5120640"/>
            <a:ext cx="201168" cy="201168"/>
          </a:xfrm>
          <a:prstGeom prst="ellipse">
            <a:avLst/>
          </a:prstGeom>
          <a:solidFill>
            <a:srgbClr val="C88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67144" y="5084064"/>
            <a:ext cx="19568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3D2E"/>
                </a:solidFill>
                <a:latin typeface="Calibri"/>
              </a:rPr>
              <a:t>Unencrypted databases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4536" y="5559551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A6B63"/>
                </a:solidFill>
                <a:latin typeface="Calibri"/>
              </a:rPr>
              <a:t>Storage encryption switched off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53144" y="4901183"/>
            <a:ext cx="2615184" cy="1371600"/>
          </a:xfrm>
          <a:prstGeom prst="roundRect">
            <a:avLst>
              <a:gd name="adj" fmla="val 10000"/>
            </a:avLst>
          </a:prstGeom>
          <a:solidFill>
            <a:srgbClr val="EEF4F1"/>
          </a:solidFill>
          <a:ln>
            <a:noFill/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354312" y="5120640"/>
            <a:ext cx="201168" cy="201168"/>
          </a:xfrm>
          <a:prstGeom prst="ellipse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65208" y="5084064"/>
            <a:ext cx="19568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3D2E"/>
                </a:solidFill>
                <a:latin typeface="Calibri"/>
              </a:rPr>
              <a:t>No backup / retention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5559551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A6B63"/>
                </a:solidFill>
                <a:latin typeface="Calibri"/>
              </a:rPr>
              <a:t>Deletion protection and versioning suspended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3D2E"/>
              </a:gs>
              <a:gs pos="100000">
                <a:srgbClr val="07241B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0" y="274320"/>
            <a:ext cx="5486400" cy="6583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2000" b="1" i="0">
                <a:solidFill>
                  <a:srgbClr val="1B5541"/>
                </a:solidFill>
                <a:latin typeface="Cambria"/>
              </a:rPr>
              <a:t>02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2761488"/>
            <a:ext cx="146304" cy="146304"/>
          </a:xfrm>
          <a:prstGeom prst="ellipse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9D6B"/>
                </a:solidFill>
                <a:latin typeface="Calibri"/>
              </a:rPr>
              <a:t>ACT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749807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Cambria"/>
              </a:rPr>
              <a:t>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663440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D9F2E7"/>
                </a:solidFill>
                <a:latin typeface="Calibri"/>
              </a:rPr>
              <a:t>A Python, API-first guardrail auditor — one scanner core serving humans and pipelines alike.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9D6B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0F3D2E"/>
                </a:solidFill>
                <a:latin typeface="Cambria"/>
              </a:rPr>
              <a:t>A guardrail auditor for humans and pipelines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AA8A2"/>
                </a:solidFill>
                <a:latin typeface="Calibri"/>
              </a:rPr>
              <a:t>02 · 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43737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AA8A2"/>
                </a:solidFill>
                <a:latin typeface="Calibri"/>
              </a:rPr>
              <a:t>Guardrail Auditor   </a:t>
            </a:r>
            <a:r>
              <a:rPr sz="950" b="1" i="0">
                <a:solidFill>
                  <a:srgbClr val="1F9D6B"/>
                </a:solidFill>
                <a:latin typeface="Calibri"/>
              </a:rPr>
              <a:t>·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1B2A24"/>
                </a:solidFill>
                <a:latin typeface="Calibri"/>
              </a:rPr>
              <a:t>A </a:t>
            </a:r>
            <a:r>
              <a:rPr sz="1800" b="1" i="0">
                <a:solidFill>
                  <a:srgbClr val="0F3D2E"/>
                </a:solidFill>
                <a:latin typeface="Calibri"/>
              </a:rPr>
              <a:t>Python, API-first</a:t>
            </a:r>
            <a:r>
              <a:rPr sz="1800" b="0" i="0">
                <a:solidFill>
                  <a:srgbClr val="1B2A24"/>
                </a:solidFill>
                <a:latin typeface="Calibri"/>
              </a:rPr>
              <a:t> auditor that scans IaC against a security baseline and presents a visual Risk Score.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68880"/>
            <a:ext cx="2240280" cy="548640"/>
          </a:xfrm>
          <a:prstGeom prst="roundRect">
            <a:avLst>
              <a:gd name="adj" fmla="val 18000"/>
            </a:avLst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Scans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0088" y="2468880"/>
            <a:ext cx="4617720" cy="548640"/>
          </a:xfrm>
          <a:prstGeom prst="roundRect">
            <a:avLst>
              <a:gd name="adj" fmla="val 18000"/>
            </a:avLst>
          </a:prstGeom>
          <a:solidFill>
            <a:srgbClr val="EE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18688" y="2468880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B2A24"/>
                </a:solidFill>
                <a:latin typeface="Calibri"/>
              </a:rPr>
              <a:t>Terraform (.tf) + JSON / CloudFormation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63824"/>
            <a:ext cx="2240280" cy="548640"/>
          </a:xfrm>
          <a:prstGeom prst="roundRect">
            <a:avLst>
              <a:gd name="adj" fmla="val 18000"/>
            </a:avLst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63824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Detects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90088" y="3163824"/>
            <a:ext cx="4617720" cy="548640"/>
          </a:xfrm>
          <a:prstGeom prst="roundRect">
            <a:avLst>
              <a:gd name="adj" fmla="val 18000"/>
            </a:avLst>
          </a:prstGeom>
          <a:solidFill>
            <a:srgbClr val="EE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18688" y="3163824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B2A24"/>
                </a:solidFill>
                <a:latin typeface="Calibri"/>
              </a:rPr>
              <a:t>100+ AWS / Azure signatures, 9 control families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58768"/>
            <a:ext cx="2240280" cy="548640"/>
          </a:xfrm>
          <a:prstGeom prst="roundRect">
            <a:avLst>
              <a:gd name="adj" fmla="val 18000"/>
            </a:avLst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58768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Scores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90088" y="3858768"/>
            <a:ext cx="4617720" cy="548640"/>
          </a:xfrm>
          <a:prstGeom prst="roundRect">
            <a:avLst>
              <a:gd name="adj" fmla="val 18000"/>
            </a:avLst>
          </a:prstGeom>
          <a:solidFill>
            <a:srgbClr val="EE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18688" y="3858768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B2A24"/>
                </a:solidFill>
                <a:latin typeface="Calibri"/>
              </a:rPr>
              <a:t>Normalized 0–100 risk health, color-coded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553712"/>
            <a:ext cx="2240280" cy="548640"/>
          </a:xfrm>
          <a:prstGeom prst="roundRect">
            <a:avLst>
              <a:gd name="adj" fmla="val 18000"/>
            </a:avLst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53712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Persists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90088" y="4553712"/>
            <a:ext cx="4617720" cy="548640"/>
          </a:xfrm>
          <a:prstGeom prst="roundRect">
            <a:avLst>
              <a:gd name="adj" fmla="val 18000"/>
            </a:avLst>
          </a:prstGeom>
          <a:solidFill>
            <a:srgbClr val="EE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18688" y="4553712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B2A24"/>
                </a:solidFill>
                <a:latin typeface="Calibri"/>
              </a:rPr>
              <a:t>Postgres-backed scan history &amp; audit trail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248655"/>
            <a:ext cx="2240280" cy="548640"/>
          </a:xfrm>
          <a:prstGeom prst="roundRect">
            <a:avLst>
              <a:gd name="adj" fmla="val 18000"/>
            </a:avLst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248655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Surfaces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90088" y="5248655"/>
            <a:ext cx="4617720" cy="548640"/>
          </a:xfrm>
          <a:prstGeom prst="roundRect">
            <a:avLst>
              <a:gd name="adj" fmla="val 18000"/>
            </a:avLst>
          </a:prstGeom>
          <a:solidFill>
            <a:srgbClr val="EE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18688" y="5248655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B2A24"/>
                </a:solidFill>
                <a:latin typeface="Calibri"/>
              </a:rPr>
              <a:t>Dashboard · REST API · CLI gate · SARIF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73568" y="2468880"/>
            <a:ext cx="3593592" cy="3657600"/>
          </a:xfrm>
          <a:prstGeom prst="roundRect">
            <a:avLst>
              <a:gd name="adj" fmla="val 6000"/>
            </a:avLst>
          </a:prstGeom>
          <a:solidFill>
            <a:srgbClr val="EEF4F1"/>
          </a:solidFill>
          <a:ln>
            <a:noFill/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47888" y="2743200"/>
            <a:ext cx="384048" cy="384048"/>
          </a:xfrm>
          <a:prstGeom prst="ellipse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59952" y="2779776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F3D2E"/>
                </a:solidFill>
                <a:latin typeface="Cambria"/>
              </a:rPr>
              <a:t>Local-first by design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3429000"/>
            <a:ext cx="306324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A6B63"/>
                </a:solidFill>
                <a:latin typeface="Calibri"/>
              </a:rPr>
              <a:t>Runs entirely on Docker Compose — no cloud credentials needed to develop or review.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A6B63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A6B63"/>
                </a:solidFill>
                <a:latin typeface="Calibri"/>
              </a:rPr>
              <a:t>AWS infrastructure is fully authored in Terraform but never auto-provisions, honoring the challenge’s no-resources rule.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9D6B"/>
                </a:solidFill>
                <a:latin typeface="Calibri"/>
              </a:rPr>
              <a:t>WHO USES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0F3D2E"/>
                </a:solidFill>
                <a:latin typeface="Cambria"/>
              </a:rPr>
              <a:t>Five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AA8A2"/>
                </a:solidFill>
                <a:latin typeface="Calibri"/>
              </a:rPr>
              <a:t>02 · 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43737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AA8A2"/>
                </a:solidFill>
                <a:latin typeface="Calibri"/>
              </a:rPr>
              <a:t>Guardrail Auditor   </a:t>
            </a:r>
            <a:r>
              <a:rPr sz="950" b="1" i="0">
                <a:solidFill>
                  <a:srgbClr val="1F9D6B"/>
                </a:solidFill>
                <a:latin typeface="Calibri"/>
              </a:rPr>
              <a:t>· 04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828800"/>
            <a:ext cx="493776" cy="493776"/>
          </a:xfrm>
          <a:prstGeom prst="ellipse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10512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50" b="1" i="0">
                <a:solidFill>
                  <a:srgbClr val="0F3D2E"/>
                </a:solidFill>
                <a:latin typeface="Calibri"/>
              </a:rPr>
              <a:t>PR / pre-merge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94560"/>
            <a:ext cx="10149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5A6B63"/>
                </a:solidFill>
                <a:latin typeface="Calibri"/>
              </a:rPr>
              <a:t>python -m app.cli scan --fail-on critical blocks risky infra in CI before merge.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743200"/>
            <a:ext cx="493776" cy="493776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24912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50" b="1" i="0">
                <a:solidFill>
                  <a:srgbClr val="0F3D2E"/>
                </a:solidFill>
                <a:latin typeface="Calibri"/>
              </a:rPr>
              <a:t>Developer self-service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108960"/>
            <a:ext cx="10149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5A6B63"/>
                </a:solidFill>
                <a:latin typeface="Calibri"/>
              </a:rPr>
              <a:t>Engineers upload a .tf / .json file and see findings plus fixes instantly in the dashboard.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657600"/>
            <a:ext cx="493776" cy="493776"/>
          </a:xfrm>
          <a:prstGeom prst="ellipse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639312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50" b="1" i="0">
                <a:solidFill>
                  <a:srgbClr val="0F3D2E"/>
                </a:solidFill>
                <a:latin typeface="Calibri"/>
              </a:rPr>
              <a:t>GitHub Code Scanning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023360"/>
            <a:ext cx="10149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5A6B63"/>
                </a:solidFill>
                <a:latin typeface="Calibri"/>
              </a:rPr>
              <a:t>SARIF export lights up the Security tab and inline pull-request annotations.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572000"/>
            <a:ext cx="493776" cy="493776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553712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50" b="1" i="0">
                <a:solidFill>
                  <a:srgbClr val="0F3D2E"/>
                </a:solidFill>
                <a:latin typeface="Calibri"/>
              </a:rPr>
              <a:t>Compliance audit trail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937760"/>
            <a:ext cx="10149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5A6B63"/>
                </a:solidFill>
                <a:latin typeface="Calibri"/>
              </a:rPr>
              <a:t>Every scan is persisted in Postgres with timestamps, providing durable evidence.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5486400"/>
            <a:ext cx="493776" cy="493776"/>
          </a:xfrm>
          <a:prstGeom prst="ellipse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468112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50" b="1" i="0">
                <a:solidFill>
                  <a:srgbClr val="0F3D2E"/>
                </a:solidFill>
                <a:latin typeface="Calibri"/>
              </a:rPr>
              <a:t>Regression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852160"/>
            <a:ext cx="10149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5A6B63"/>
                </a:solidFill>
                <a:latin typeface="Calibri"/>
              </a:rPr>
              <a:t>Compare two scans to prove a change introduced — or resolved — risk.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9D6B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0F3D2E"/>
                </a:solidFill>
                <a:latin typeface="Cambria"/>
              </a:rPr>
              <a:t>One scanner core, four interfaces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AA8A2"/>
                </a:solidFill>
                <a:latin typeface="Calibri"/>
              </a:rPr>
              <a:t>02 · 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43737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AA8A2"/>
                </a:solidFill>
                <a:latin typeface="Calibri"/>
              </a:rPr>
              <a:t>Guardrail Auditor   </a:t>
            </a:r>
            <a:r>
              <a:rPr sz="950" b="1" i="0">
                <a:solidFill>
                  <a:srgbClr val="1F9D6B"/>
                </a:solidFill>
                <a:latin typeface="Calibri"/>
              </a:rPr>
              <a:t>·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2743200" cy="960120"/>
          </a:xfrm>
          <a:prstGeom prst="roundRect">
            <a:avLst>
              <a:gd name="adj" fmla="val 12000"/>
            </a:avLst>
          </a:prstGeom>
          <a:solidFill>
            <a:srgbClr val="EEF4F1"/>
          </a:solidFill>
          <a:ln>
            <a:noFill/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12264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F3D2E"/>
                </a:solidFill>
                <a:latin typeface="Calibri"/>
              </a:rPr>
              <a:t>React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9631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6B63"/>
                </a:solidFill>
                <a:latin typeface="Calibri"/>
              </a:rPr>
              <a:t>upload · filter · trend · SARIF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09544"/>
            <a:ext cx="2743200" cy="960120"/>
          </a:xfrm>
          <a:prstGeom prst="roundRect">
            <a:avLst>
              <a:gd name="adj" fmla="val 12000"/>
            </a:avLst>
          </a:prstGeom>
          <a:solidFill>
            <a:srgbClr val="EEF4F1"/>
          </a:solidFill>
          <a:ln>
            <a:noFill/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355848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F3D2E"/>
                </a:solidFill>
                <a:latin typeface="Calibri"/>
              </a:rPr>
              <a:t>Pipeline CLI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39896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6B63"/>
                </a:solidFill>
                <a:latin typeface="Calibri"/>
              </a:rPr>
              <a:t>python -m app.cli scan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53128"/>
            <a:ext cx="2743200" cy="960120"/>
          </a:xfrm>
          <a:prstGeom prst="roundRect">
            <a:avLst>
              <a:gd name="adj" fmla="val 12000"/>
            </a:avLst>
          </a:prstGeom>
          <a:solidFill>
            <a:srgbClr val="EEF4F1"/>
          </a:solidFill>
          <a:ln>
            <a:noFill/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59943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F3D2E"/>
                </a:solidFill>
                <a:latin typeface="Calibri"/>
              </a:rPr>
              <a:t>GitHub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834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6B63"/>
                </a:solidFill>
                <a:latin typeface="Calibri"/>
              </a:rPr>
              <a:t>lint · test · SARIF · gate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2377440"/>
            <a:ext cx="2743200" cy="1417320"/>
          </a:xfrm>
          <a:prstGeom prst="roundRect">
            <a:avLst>
              <a:gd name="adj" fmla="val 10000"/>
            </a:avLst>
          </a:prstGeom>
          <a:solidFill>
            <a:srgbClr val="0F3D2E"/>
          </a:solidFill>
          <a:ln>
            <a:noFill/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254203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FastAPI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01752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9F2E7"/>
                </a:solidFill>
                <a:latin typeface="Calibri"/>
              </a:rPr>
              <a:t>REST scans, upload,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9F2E7"/>
                </a:solidFill>
                <a:latin typeface="Calibri"/>
              </a:rPr>
              <a:t>compare, SARIF, health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4160520"/>
            <a:ext cx="2743200" cy="1280160"/>
          </a:xfrm>
          <a:prstGeom prst="roundRect">
            <a:avLst>
              <a:gd name="adj" fmla="val 10000"/>
            </a:avLst>
          </a:prstGeom>
          <a:solidFill>
            <a:srgbClr val="1F9D6B"/>
          </a:solidFill>
          <a:ln>
            <a:noFill/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4334256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Scanner 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4791456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Terraform rules + JSON rules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2377440"/>
            <a:ext cx="2788920" cy="1417320"/>
          </a:xfrm>
          <a:prstGeom prst="roundRect">
            <a:avLst>
              <a:gd name="adj" fmla="val 10000"/>
            </a:avLst>
          </a:prstGeom>
          <a:solidFill>
            <a:srgbClr val="EEF4F1"/>
          </a:solidFill>
          <a:ln>
            <a:noFill/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2596896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3D2E"/>
                </a:solidFill>
                <a:latin typeface="Calibri"/>
              </a:rPr>
              <a:t>Postgres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3054096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63"/>
                </a:solidFill>
                <a:latin typeface="Calibri"/>
              </a:rPr>
              <a:t>scan runs + findings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63"/>
                </a:solidFill>
                <a:latin typeface="Calibri"/>
              </a:rPr>
              <a:t>(audit trail)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4160520"/>
            <a:ext cx="2788920" cy="1280160"/>
          </a:xfrm>
          <a:prstGeom prst="roundRect">
            <a:avLst>
              <a:gd name="adj" fmla="val 10000"/>
            </a:avLst>
          </a:prstGeom>
          <a:solidFill>
            <a:srgbClr val="EEF4F1"/>
          </a:solidFill>
          <a:ln>
            <a:noFill/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38912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3D2E"/>
                </a:solidFill>
                <a:latin typeface="Calibri"/>
              </a:rPr>
              <a:t>IaC sources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484632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63"/>
                </a:solidFill>
                <a:latin typeface="Calibri"/>
              </a:rPr>
              <a:t>sample_iac / uploads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383280" y="2441448"/>
            <a:ext cx="822960" cy="347472"/>
          </a:xfrm>
          <a:prstGeom prst="bentConnector3">
            <a:avLst/>
          </a:prstGeom>
          <a:ln w="28575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383280" y="3063240"/>
            <a:ext cx="822960" cy="155448"/>
          </a:xfrm>
          <a:prstGeom prst="bentConnector3">
            <a:avLst/>
          </a:prstGeom>
          <a:ln w="28575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383280" y="4416552"/>
            <a:ext cx="822960" cy="201168"/>
          </a:xfrm>
          <a:prstGeom prst="bentConnector3">
            <a:avLst/>
          </a:prstGeom>
          <a:ln w="28575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7840" y="3794760"/>
            <a:ext cx="0" cy="365760"/>
          </a:xfrm>
          <a:prstGeom prst="bentConnector3">
            <a:avLst/>
          </a:prstGeom>
          <a:ln w="28575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949440" y="3063240"/>
            <a:ext cx="822960" cy="0"/>
          </a:xfrm>
          <a:prstGeom prst="bentConnector3">
            <a:avLst/>
          </a:prstGeom>
          <a:ln w="28575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949440" y="4754880"/>
            <a:ext cx="822960" cy="0"/>
          </a:xfrm>
          <a:prstGeom prst="bentConnector3">
            <a:avLst/>
          </a:prstGeom>
          <a:ln w="28575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40080" y="5797296"/>
            <a:ext cx="10927080" cy="548640"/>
          </a:xfrm>
          <a:prstGeom prst="roundRect">
            <a:avLst>
              <a:gd name="adj" fmla="val 12000"/>
            </a:avLst>
          </a:prstGeom>
          <a:solidFill>
            <a:srgbClr val="EE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797296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B2A24"/>
                </a:solidFill>
                <a:latin typeface="Calibri"/>
              </a:rPr>
              <a:t>Rule logic lives once in </a:t>
            </a:r>
            <a:r>
              <a:rPr sz="1350" b="1" i="0">
                <a:solidFill>
                  <a:srgbClr val="0F3D2E"/>
                </a:solidFill>
                <a:latin typeface="Courier New"/>
              </a:rPr>
              <a:t>app.scanner.RULES</a:t>
            </a:r>
            <a:r>
              <a:rPr sz="1350" b="0" i="0">
                <a:solidFill>
                  <a:srgbClr val="1B2A24"/>
                </a:solidFill>
                <a:latin typeface="Calibri"/>
              </a:rPr>
              <a:t> — reused by dashboard, API, CLI, tests and SARIF. Five trade-offs recorded as ADRs in docs/adr/.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3D2E"/>
              </a:gs>
              <a:gs pos="100000">
                <a:srgbClr val="07241B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0" y="274320"/>
            <a:ext cx="5486400" cy="6583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2000" b="1" i="0">
                <a:solidFill>
                  <a:srgbClr val="1B5541"/>
                </a:solidFill>
                <a:latin typeface="Cambria"/>
              </a:rPr>
              <a:t>03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2761488"/>
            <a:ext cx="146304" cy="146304"/>
          </a:xfrm>
          <a:prstGeom prst="ellipse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9D6B"/>
                </a:solidFill>
                <a:latin typeface="Calibri"/>
              </a:rPr>
              <a:t>ACT THREE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749807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Cambria"/>
              </a:rPr>
              <a:t>The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663440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D9F2E7"/>
                </a:solidFill>
                <a:latin typeface="Calibri"/>
              </a:rPr>
              <a:t>A polished React dashboard that makes infrastructure risk legible at a glance.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9D6B"/>
                </a:solidFill>
                <a:latin typeface="Calibri"/>
              </a:rPr>
              <a:t>LIVE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0F3D2E"/>
                </a:solidFill>
                <a:latin typeface="Cambria"/>
              </a:rPr>
              <a:t>The Risk Score, color-coded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AA8A2"/>
                </a:solidFill>
                <a:latin typeface="Calibri"/>
              </a:rPr>
              <a:t>03 · THE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43737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AA8A2"/>
                </a:solidFill>
                <a:latin typeface="Calibri"/>
              </a:rPr>
              <a:t>Guardrail Auditor   </a:t>
            </a:r>
            <a:r>
              <a:rPr sz="950" b="1" i="0">
                <a:solidFill>
                  <a:srgbClr val="1F9D6B"/>
                </a:solidFill>
                <a:latin typeface="Calibri"/>
              </a:rPr>
              <a:t>·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9105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B2A24"/>
                </a:solidFill>
                <a:latin typeface="Calibri"/>
              </a:rPr>
              <a:t>Thresholds make risk legible instantly:    </a:t>
            </a:r>
            <a:r>
              <a:rPr sz="1600" b="1" i="0">
                <a:solidFill>
                  <a:srgbClr val="1F9D6B"/>
                </a:solidFill>
                <a:latin typeface="Calibri"/>
              </a:rPr>
              <a:t>green &gt; 90</a:t>
            </a:r>
            <a:r>
              <a:rPr sz="1600" b="0" i="0">
                <a:solidFill>
                  <a:srgbClr val="9AA8A2"/>
                </a:solidFill>
                <a:latin typeface="Calibri"/>
              </a:rPr>
              <a:t>     ·     </a:t>
            </a:r>
            <a:r>
              <a:rPr sz="1600" b="1" i="0">
                <a:solidFill>
                  <a:srgbClr val="C8881A"/>
                </a:solidFill>
                <a:latin typeface="Calibri"/>
              </a:rPr>
              <a:t>amber 70–90</a:t>
            </a:r>
            <a:r>
              <a:rPr sz="1600" b="0" i="0">
                <a:solidFill>
                  <a:srgbClr val="9AA8A2"/>
                </a:solidFill>
                <a:latin typeface="Calibri"/>
              </a:rPr>
              <a:t>     ·     </a:t>
            </a:r>
            <a:r>
              <a:rPr sz="1600" b="1" i="0">
                <a:solidFill>
                  <a:srgbClr val="C0143C"/>
                </a:solidFill>
                <a:latin typeface="Calibri"/>
              </a:rPr>
              <a:t>red &lt; 70</a:t>
            </a:r>
          </a:p>
        </p:txBody>
      </p:sp>
      <p:pic>
        <p:nvPicPr>
          <p:cNvPr id="8" name="Picture 7" descr="hero-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2084831"/>
            <a:ext cx="6403495" cy="4023360"/>
          </a:xfrm>
          <a:prstGeom prst="rect">
            <a:avLst/>
          </a:prstGeom>
          <a:ln w="12700">
            <a:solidFill>
              <a:srgbClr val="DDE8E2"/>
            </a:solidFill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640080" y="6272784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6B63"/>
                </a:solidFill>
                <a:latin typeface="Calibri"/>
              </a:rPr>
              <a:t>A high-risk scan: 47%, 67 findings across 10 files — severity breakdown and a regression alert in one view.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9D6B"/>
                </a:solidFill>
                <a:latin typeface="Calibri"/>
              </a:rPr>
              <a:t>LIVE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0F3D2E"/>
                </a:solidFill>
                <a:latin typeface="Cambria"/>
              </a:rPr>
              <a:t>Green &amp; amber score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AA8A2"/>
                </a:solidFill>
                <a:latin typeface="Calibri"/>
              </a:rPr>
              <a:t>03 · THE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43737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AA8A2"/>
                </a:solidFill>
                <a:latin typeface="Calibri"/>
              </a:rPr>
              <a:t>Guardrail Auditor   </a:t>
            </a:r>
            <a:r>
              <a:rPr sz="950" b="1" i="0">
                <a:solidFill>
                  <a:srgbClr val="1F9D6B"/>
                </a:solidFill>
                <a:latin typeface="Calibri"/>
              </a:rPr>
              <a:t>· 07</a:t>
            </a:r>
          </a:p>
        </p:txBody>
      </p:sp>
      <p:pic>
        <p:nvPicPr>
          <p:cNvPr id="7" name="Picture 6" descr="her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5486400" cy="3447142"/>
          </a:xfrm>
          <a:prstGeom prst="rect">
            <a:avLst/>
          </a:prstGeom>
          <a:ln w="12700">
            <a:solidFill>
              <a:srgbClr val="DDE8E2"/>
            </a:solidFill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</p:pic>
      <p:pic>
        <p:nvPicPr>
          <p:cNvPr id="8" name="Picture 7" descr="hero-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74519"/>
            <a:ext cx="5486400" cy="3447142"/>
          </a:xfrm>
          <a:prstGeom prst="rect">
            <a:avLst/>
          </a:prstGeom>
          <a:ln w="12700">
            <a:solidFill>
              <a:srgbClr val="DDE8E2"/>
            </a:solidFill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640080" y="544068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9D6B"/>
                </a:solidFill>
                <a:latin typeface="Calibri"/>
              </a:rPr>
              <a:t>100% — green.  </a:t>
            </a:r>
            <a:r>
              <a:rPr sz="1400" b="0" i="0">
                <a:solidFill>
                  <a:srgbClr val="5A6B63"/>
                </a:solidFill>
                <a:latin typeface="Calibri"/>
              </a:rPr>
              <a:t>A clean baseline with zero findings.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544068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C8881A"/>
                </a:solidFill>
                <a:latin typeface="Calibri"/>
              </a:rPr>
              <a:t>80% — amber.  </a:t>
            </a:r>
            <a:r>
              <a:rPr sz="1400" b="0" i="0">
                <a:solidFill>
                  <a:srgbClr val="5A6B63"/>
                </a:solidFill>
                <a:latin typeface="Calibri"/>
              </a:rPr>
              <a:t>One medium finding; the normalized model never collapses to zero on small scans.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9D6B"/>
                </a:solidFill>
                <a:latin typeface="Calibri"/>
              </a:rPr>
              <a:t>LIVE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0F3D2E"/>
                </a:solidFill>
                <a:latin typeface="Cambria"/>
              </a:rPr>
              <a:t>Findings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AA8A2"/>
                </a:solidFill>
                <a:latin typeface="Calibri"/>
              </a:rPr>
              <a:t>03 · THE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43737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AA8A2"/>
                </a:solidFill>
                <a:latin typeface="Calibri"/>
              </a:rPr>
              <a:t>Guardrail Auditor   </a:t>
            </a:r>
            <a:r>
              <a:rPr sz="950" b="1" i="0">
                <a:solidFill>
                  <a:srgbClr val="1F9D6B"/>
                </a:solidFill>
                <a:latin typeface="Calibri"/>
              </a:rPr>
              <a:t>· 08</a:t>
            </a:r>
          </a:p>
        </p:txBody>
      </p:sp>
      <p:pic>
        <p:nvPicPr>
          <p:cNvPr id="7" name="Picture 6" descr="03-findings-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7269480" cy="4582648"/>
          </a:xfrm>
          <a:prstGeom prst="rect">
            <a:avLst/>
          </a:prstGeom>
          <a:ln w="12700">
            <a:solidFill>
              <a:srgbClr val="DDE8E2"/>
            </a:solidFill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8183879" y="1828800"/>
            <a:ext cx="3383280" cy="4160520"/>
          </a:xfrm>
          <a:prstGeom prst="roundRect">
            <a:avLst>
              <a:gd name="adj" fmla="val 6000"/>
            </a:avLst>
          </a:prstGeom>
          <a:solidFill>
            <a:srgbClr val="EEF4F1"/>
          </a:solidFill>
          <a:ln>
            <a:noFill/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210312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3D2E"/>
                </a:solidFill>
                <a:latin typeface="Cambria"/>
              </a:rPr>
              <a:t>Every finding carries</a:t>
            </a:r>
          </a:p>
        </p:txBody>
      </p:sp>
      <p:sp>
        <p:nvSpPr>
          <p:cNvPr id="10" name="Oval 9"/>
          <p:cNvSpPr/>
          <p:nvPr/>
        </p:nvSpPr>
        <p:spPr>
          <a:xfrm>
            <a:off x="8458200" y="2660904"/>
            <a:ext cx="128016" cy="128016"/>
          </a:xfrm>
          <a:prstGeom prst="ellipse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32520" y="26060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B2A24"/>
                </a:solidFill>
                <a:latin typeface="Calibri"/>
              </a:rPr>
              <a:t>Rule + severity</a:t>
            </a:r>
          </a:p>
        </p:txBody>
      </p:sp>
      <p:sp>
        <p:nvSpPr>
          <p:cNvPr id="12" name="Oval 11"/>
          <p:cNvSpPr/>
          <p:nvPr/>
        </p:nvSpPr>
        <p:spPr>
          <a:xfrm>
            <a:off x="8458200" y="3118104"/>
            <a:ext cx="128016" cy="128016"/>
          </a:xfrm>
          <a:prstGeom prst="ellipse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30632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B2A24"/>
                </a:solidFill>
                <a:latin typeface="Calibri"/>
              </a:rPr>
              <a:t>Affected resource</a:t>
            </a:r>
          </a:p>
        </p:txBody>
      </p:sp>
      <p:sp>
        <p:nvSpPr>
          <p:cNvPr id="14" name="Oval 13"/>
          <p:cNvSpPr/>
          <p:nvPr/>
        </p:nvSpPr>
        <p:spPr>
          <a:xfrm>
            <a:off x="8458200" y="3575304"/>
            <a:ext cx="128016" cy="128016"/>
          </a:xfrm>
          <a:prstGeom prst="ellipse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35204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B2A24"/>
                </a:solidFill>
                <a:latin typeface="Calibri"/>
              </a:rPr>
              <a:t>File : line location</a:t>
            </a:r>
          </a:p>
        </p:txBody>
      </p:sp>
      <p:sp>
        <p:nvSpPr>
          <p:cNvPr id="16" name="Oval 15"/>
          <p:cNvSpPr/>
          <p:nvPr/>
        </p:nvSpPr>
        <p:spPr>
          <a:xfrm>
            <a:off x="8458200" y="4032503"/>
            <a:ext cx="128016" cy="128016"/>
          </a:xfrm>
          <a:prstGeom prst="ellipse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32520" y="3977639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B2A24"/>
                </a:solidFill>
                <a:latin typeface="Calibri"/>
              </a:rPr>
              <a:t>Remediation advice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617720"/>
            <a:ext cx="2880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6B63"/>
                </a:solidFill>
                <a:latin typeface="Calibri"/>
              </a:rPr>
              <a:t>Search, sortable columns, configurable rows and pagination handle large result sets — 67 findings across 14 pages.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9D6B"/>
                </a:solidFill>
                <a:latin typeface="Calibri"/>
              </a:rPr>
              <a:t>LIVE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0F3D2E"/>
                </a:solidFill>
                <a:latin typeface="Cambria"/>
              </a:rPr>
              <a:t>Filtering &amp; regression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AA8A2"/>
                </a:solidFill>
                <a:latin typeface="Calibri"/>
              </a:rPr>
              <a:t>03 · THE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43737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AA8A2"/>
                </a:solidFill>
                <a:latin typeface="Calibri"/>
              </a:rPr>
              <a:t>Guardrail Auditor   </a:t>
            </a:r>
            <a:r>
              <a:rPr sz="950" b="1" i="0">
                <a:solidFill>
                  <a:srgbClr val="1F9D6B"/>
                </a:solidFill>
                <a:latin typeface="Calibri"/>
              </a:rPr>
              <a:t>· 09</a:t>
            </a:r>
          </a:p>
        </p:txBody>
      </p:sp>
      <p:pic>
        <p:nvPicPr>
          <p:cNvPr id="7" name="Picture 6" descr="05-severity-fil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5943600" cy="3746819"/>
          </a:xfrm>
          <a:prstGeom prst="rect">
            <a:avLst/>
          </a:prstGeom>
          <a:ln w="12700">
            <a:solidFill>
              <a:srgbClr val="DDE8E2"/>
            </a:solidFill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</p:pic>
      <p:pic>
        <p:nvPicPr>
          <p:cNvPr id="8" name="Picture 7" descr="04-regre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874519"/>
            <a:ext cx="4526280" cy="3565600"/>
          </a:xfrm>
          <a:prstGeom prst="rect">
            <a:avLst/>
          </a:prstGeom>
          <a:ln w="12700">
            <a:solidFill>
              <a:srgbClr val="DDE8E2"/>
            </a:solidFill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640080" y="5852160"/>
            <a:ext cx="5943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A6B63"/>
                </a:solidFill>
                <a:latin typeface="Calibri"/>
              </a:rPr>
              <a:t>Click a severity card to filter, with breadcrumb and a clear 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585216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A6B63"/>
                </a:solidFill>
                <a:latin typeface="Calibri"/>
              </a:rPr>
              <a:t>Comparison flags </a:t>
            </a:r>
            <a:r>
              <a:rPr sz="1350" b="1" i="0">
                <a:solidFill>
                  <a:srgbClr val="0F3D2E"/>
                </a:solidFill>
                <a:latin typeface="Calibri"/>
              </a:rPr>
              <a:t>“introduced 26 new criticals.”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9D6B"/>
                </a:solidFill>
                <a:latin typeface="Calibri"/>
              </a:rPr>
              <a:t>LIVE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0F3D2E"/>
                </a:solidFill>
                <a:latin typeface="Cambria"/>
              </a:rPr>
              <a:t>API-first &amp; responsive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AA8A2"/>
                </a:solidFill>
                <a:latin typeface="Calibri"/>
              </a:rPr>
              <a:t>03 · THE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43737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AA8A2"/>
                </a:solidFill>
                <a:latin typeface="Calibri"/>
              </a:rPr>
              <a:t>Guardrail Auditor   </a:t>
            </a:r>
            <a:r>
              <a:rPr sz="950" b="1" i="0">
                <a:solidFill>
                  <a:srgbClr val="1F9D6B"/>
                </a:solidFill>
                <a:latin typeface="Calibri"/>
              </a:rPr>
              <a:t>· 10</a:t>
            </a:r>
          </a:p>
        </p:txBody>
      </p:sp>
      <p:pic>
        <p:nvPicPr>
          <p:cNvPr id="7" name="Picture 6" descr="07-api-do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6124431" cy="3977639"/>
          </a:xfrm>
          <a:prstGeom prst="rect">
            <a:avLst/>
          </a:prstGeom>
          <a:ln w="12700">
            <a:solidFill>
              <a:srgbClr val="DDE8E2"/>
            </a:solidFill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</p:pic>
      <p:pic>
        <p:nvPicPr>
          <p:cNvPr id="8" name="Picture 7" descr="08-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1828800"/>
            <a:ext cx="1791024" cy="3977639"/>
          </a:xfrm>
          <a:prstGeom prst="rect">
            <a:avLst/>
          </a:prstGeom>
          <a:ln w="12700">
            <a:solidFill>
              <a:srgbClr val="DDE8E2"/>
            </a:solidFill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640080" y="594360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6B63"/>
                </a:solidFill>
                <a:latin typeface="Calibri"/>
              </a:rPr>
              <a:t>Auto-generated OpenAPI 3.1 docs for every endpoint: scans, upload, compare, SARIF, rules, health.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59436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6B63"/>
                </a:solidFill>
                <a:latin typeface="Calibri"/>
              </a:rPr>
              <a:t>Verified on mobile Chromium.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9D6B"/>
                </a:solidFill>
                <a:latin typeface="Calibri"/>
              </a:rPr>
              <a:t>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0F3D2E"/>
                </a:solidFill>
                <a:latin typeface="Cambria"/>
              </a:rPr>
              <a:t>Feature catalogue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AA8A2"/>
                </a:solidFill>
                <a:latin typeface="Calibri"/>
              </a:rPr>
              <a:t>03 · THE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43737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AA8A2"/>
                </a:solidFill>
                <a:latin typeface="Calibri"/>
              </a:rPr>
              <a:t>Guardrail Auditor   </a:t>
            </a:r>
            <a:r>
              <a:rPr sz="950" b="1" i="0">
                <a:solidFill>
                  <a:srgbClr val="1F9D6B"/>
                </a:solidFill>
                <a:latin typeface="Calibri"/>
              </a:rPr>
              <a:t>·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3520440" cy="4343400"/>
          </a:xfrm>
          <a:prstGeom prst="roundRect">
            <a:avLst>
              <a:gd name="adj" fmla="val 5000"/>
            </a:avLst>
          </a:prstGeom>
          <a:solidFill>
            <a:srgbClr val="EEF4F1"/>
          </a:solidFill>
          <a:ln>
            <a:noFill/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3520440" cy="713232"/>
          </a:xfrm>
          <a:prstGeom prst="roundRect">
            <a:avLst>
              <a:gd name="adj" fmla="val 5000"/>
            </a:avLst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3520440" cy="347472"/>
          </a:xfrm>
          <a:prstGeom prst="rect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35204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Scanning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852927"/>
            <a:ext cx="118872" cy="118872"/>
          </a:xfrm>
          <a:prstGeom prst="ellipse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1" y="278892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B2A24"/>
                </a:solidFill>
                <a:latin typeface="Calibri"/>
              </a:rPr>
              <a:t>100+ AWS / Azure signatures across 9 control families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675887"/>
            <a:ext cx="118872" cy="118872"/>
          </a:xfrm>
          <a:prstGeom prst="ellipse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1" y="3611879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B2A24"/>
                </a:solidFill>
                <a:latin typeface="Calibri"/>
              </a:rPr>
              <a:t>Single rule registry feeds scanner, /api/rules and SARIF — zero drift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498848"/>
            <a:ext cx="118872" cy="118872"/>
          </a:xfrm>
          <a:prstGeom prst="ellipse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1" y="443484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B2A24"/>
                </a:solidFill>
                <a:latin typeface="Calibri"/>
              </a:rPr>
              <a:t>Secret redaction before persistence, display, CLI and SARIF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783080"/>
            <a:ext cx="3520440" cy="4343400"/>
          </a:xfrm>
          <a:prstGeom prst="roundRect">
            <a:avLst>
              <a:gd name="adj" fmla="val 5000"/>
            </a:avLst>
          </a:prstGeom>
          <a:solidFill>
            <a:srgbClr val="EEF4F1"/>
          </a:solidFill>
          <a:ln>
            <a:noFill/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43400" y="1783080"/>
            <a:ext cx="3520440" cy="713232"/>
          </a:xfrm>
          <a:prstGeom prst="roundRect">
            <a:avLst>
              <a:gd name="adj" fmla="val 5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2148840"/>
            <a:ext cx="3520440" cy="347472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1783080"/>
            <a:ext cx="35204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Dashboard</a:t>
            </a:r>
          </a:p>
        </p:txBody>
      </p:sp>
      <p:sp>
        <p:nvSpPr>
          <p:cNvPr id="21" name="Oval 20"/>
          <p:cNvSpPr/>
          <p:nvPr/>
        </p:nvSpPr>
        <p:spPr>
          <a:xfrm>
            <a:off x="4617720" y="2852927"/>
            <a:ext cx="118872" cy="118872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73752" y="278892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B2A24"/>
                </a:solidFill>
                <a:latin typeface="Calibri"/>
              </a:rPr>
              <a:t>Color-coded score, severity cards and filtering, breadcrumbs</a:t>
            </a:r>
          </a:p>
        </p:txBody>
      </p:sp>
      <p:sp>
        <p:nvSpPr>
          <p:cNvPr id="23" name="Oval 22"/>
          <p:cNvSpPr/>
          <p:nvPr/>
        </p:nvSpPr>
        <p:spPr>
          <a:xfrm>
            <a:off x="4617720" y="3675887"/>
            <a:ext cx="118872" cy="118872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73752" y="3611879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B2A24"/>
                </a:solidFill>
                <a:latin typeface="Calibri"/>
              </a:rPr>
              <a:t>Search, sortable headers, pagination</a:t>
            </a:r>
          </a:p>
        </p:txBody>
      </p:sp>
      <p:sp>
        <p:nvSpPr>
          <p:cNvPr id="25" name="Oval 24"/>
          <p:cNvSpPr/>
          <p:nvPr/>
        </p:nvSpPr>
        <p:spPr>
          <a:xfrm>
            <a:off x="4617720" y="4498848"/>
            <a:ext cx="118872" cy="118872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73752" y="443484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B2A24"/>
                </a:solidFill>
                <a:latin typeface="Calibri"/>
              </a:rPr>
              <a:t>Clickable history, trend chart, regression compare, uploads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19" y="1783080"/>
            <a:ext cx="3520440" cy="4343400"/>
          </a:xfrm>
          <a:prstGeom prst="roundRect">
            <a:avLst>
              <a:gd name="adj" fmla="val 5000"/>
            </a:avLst>
          </a:prstGeom>
          <a:solidFill>
            <a:srgbClr val="EEF4F1"/>
          </a:solidFill>
          <a:ln>
            <a:noFill/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46719" y="1783080"/>
            <a:ext cx="3520440" cy="713232"/>
          </a:xfrm>
          <a:prstGeom prst="roundRect">
            <a:avLst>
              <a:gd name="adj" fmla="val 5000"/>
            </a:avLst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19" y="2148840"/>
            <a:ext cx="3520440" cy="347472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19" y="1783080"/>
            <a:ext cx="35204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Interfaces</a:t>
            </a:r>
          </a:p>
        </p:txBody>
      </p:sp>
      <p:sp>
        <p:nvSpPr>
          <p:cNvPr id="31" name="Oval 30"/>
          <p:cNvSpPr/>
          <p:nvPr/>
        </p:nvSpPr>
        <p:spPr>
          <a:xfrm>
            <a:off x="8321040" y="2852927"/>
            <a:ext cx="118872" cy="118872"/>
          </a:xfrm>
          <a:prstGeom prst="ellipse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7072" y="278892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B2A24"/>
                </a:solidFill>
                <a:latin typeface="Calibri"/>
              </a:rPr>
              <a:t>React dashboard for review</a:t>
            </a:r>
          </a:p>
        </p:txBody>
      </p:sp>
      <p:sp>
        <p:nvSpPr>
          <p:cNvPr id="33" name="Oval 32"/>
          <p:cNvSpPr/>
          <p:nvPr/>
        </p:nvSpPr>
        <p:spPr>
          <a:xfrm>
            <a:off x="8321040" y="3675887"/>
            <a:ext cx="118872" cy="118872"/>
          </a:xfrm>
          <a:prstGeom prst="ellipse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77072" y="3611879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B2A24"/>
                </a:solidFill>
                <a:latin typeface="Calibri"/>
              </a:rPr>
              <a:t>REST API (OpenAPI 3.1)</a:t>
            </a:r>
          </a:p>
        </p:txBody>
      </p:sp>
      <p:sp>
        <p:nvSpPr>
          <p:cNvPr id="35" name="Oval 34"/>
          <p:cNvSpPr/>
          <p:nvPr/>
        </p:nvSpPr>
        <p:spPr>
          <a:xfrm>
            <a:off x="8321040" y="4498848"/>
            <a:ext cx="118872" cy="118872"/>
          </a:xfrm>
          <a:prstGeom prst="ellipse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77072" y="443484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B2A24"/>
                </a:solidFill>
                <a:latin typeface="Calibri"/>
              </a:rPr>
              <a:t>CLI gate for CI pipelines</a:t>
            </a:r>
          </a:p>
        </p:txBody>
      </p:sp>
      <p:sp>
        <p:nvSpPr>
          <p:cNvPr id="37" name="Oval 36"/>
          <p:cNvSpPr/>
          <p:nvPr/>
        </p:nvSpPr>
        <p:spPr>
          <a:xfrm>
            <a:off x="8321040" y="5321808"/>
            <a:ext cx="118872" cy="118872"/>
          </a:xfrm>
          <a:prstGeom prst="ellipse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77072" y="52578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B2A24"/>
                </a:solidFill>
                <a:latin typeface="Calibri"/>
              </a:rPr>
              <a:t>SARIF 2.1.0 for Code Scanning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3D2E"/>
              </a:gs>
              <a:gs pos="100000">
                <a:srgbClr val="07241B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0" y="274320"/>
            <a:ext cx="5486400" cy="6583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2000" b="1" i="0">
                <a:solidFill>
                  <a:srgbClr val="1B5541"/>
                </a:solidFill>
                <a:latin typeface="Cambria"/>
              </a:rPr>
              <a:t>04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2761488"/>
            <a:ext cx="146304" cy="146304"/>
          </a:xfrm>
          <a:prstGeom prst="ellipse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9D6B"/>
                </a:solidFill>
                <a:latin typeface="Calibri"/>
              </a:rPr>
              <a:t>ACT FOUR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749807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Cambria"/>
              </a:rPr>
              <a:t>The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663440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D9F2E7"/>
                </a:solidFill>
                <a:latin typeface="Calibri"/>
              </a:rPr>
              <a:t>Documented decisions, an automated pipeline, and a tool that is itself fully guarded.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9D6B"/>
                </a:solidFill>
                <a:latin typeface="Calibri"/>
              </a:rPr>
              <a:t>KEY DECISION · ADR 0005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0F3D2E"/>
                </a:solidFill>
                <a:latin typeface="Cambria"/>
              </a:rPr>
              <a:t>An honest risk-scoring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AA8A2"/>
                </a:solidFill>
                <a:latin typeface="Calibri"/>
              </a:rPr>
              <a:t>04 · THE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43737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AA8A2"/>
                </a:solidFill>
                <a:latin typeface="Calibri"/>
              </a:rPr>
              <a:t>Guardrail Auditor   </a:t>
            </a:r>
            <a:r>
              <a:rPr sz="950" b="1" i="0">
                <a:solidFill>
                  <a:srgbClr val="1F9D6B"/>
                </a:solidFill>
                <a:latin typeface="Calibri"/>
              </a:rPr>
              <a:t>·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1B2A24"/>
                </a:solidFill>
                <a:latin typeface="Calibri"/>
              </a:rPr>
              <a:t>The original </a:t>
            </a:r>
            <a:r>
              <a:rPr sz="1650" b="0" i="0">
                <a:solidFill>
                  <a:srgbClr val="C0143C"/>
                </a:solidFill>
                <a:latin typeface="Courier New"/>
              </a:rPr>
              <a:t>100 − flat_penalty</a:t>
            </a:r>
            <a:r>
              <a:rPr sz="1650" b="0" i="0">
                <a:solidFill>
                  <a:srgbClr val="1B2A24"/>
                </a:solidFill>
                <a:latin typeface="Calibri"/>
              </a:rPr>
              <a:t> score saturated at 0 (4 vs 10 criticals looked identical) and ignored scan scope.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6400800" cy="3337560"/>
          </a:xfrm>
          <a:prstGeom prst="roundRect">
            <a:avLst>
              <a:gd name="adj" fmla="val 6000"/>
            </a:avLst>
          </a:prstGeom>
          <a:solidFill>
            <a:srgbClr val="EEF4F1"/>
          </a:solidFill>
          <a:ln>
            <a:noFill/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3D2E"/>
                </a:solidFill>
                <a:latin typeface="Cambria"/>
              </a:rPr>
              <a:t>Normalized, severity-weighted density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01568"/>
            <a:ext cx="585216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Severity weights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B2A24"/>
                </a:solidFill>
                <a:latin typeface="Courier New"/>
              </a:rPr>
              <a:t>critical 10 · high 6 · medium 3 · low 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1B2A24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Scope units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B2A24"/>
                </a:solidFill>
                <a:latin typeface="Courier New"/>
              </a:rPr>
              <a:t>(files × 2) + distinct affected resources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1B2A24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Score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B2A24"/>
                </a:solidFill>
                <a:latin typeface="Courier New"/>
              </a:rPr>
              <a:t>ceil( 100 · 4·units / (4·units + Σweights) 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2651760"/>
            <a:ext cx="4297680" cy="3337560"/>
          </a:xfrm>
          <a:prstGeom prst="roundRect">
            <a:avLst>
              <a:gd name="adj" fmla="val 6000"/>
            </a:avLst>
          </a:prstGeom>
          <a:solidFill>
            <a:srgbClr val="0F3D2E"/>
          </a:solidFill>
          <a:ln>
            <a:noFill/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2880360"/>
            <a:ext cx="379476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Asymptotic, not subtractive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1B2A24"/>
                </a:solidFill>
                <a:latin typeface="Calibri"/>
              </a:rPr>
              <a:t> 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D9F2E7"/>
                </a:solidFill>
                <a:latin typeface="Calibri"/>
              </a:rPr>
              <a:t>More findings keep lowering the score — there is no hard floor.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 i="0">
                <a:solidFill>
                  <a:srgbClr val="1B2A24"/>
                </a:solidFill>
                <a:latin typeface="Calibri"/>
              </a:rPr>
              <a:t> 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D9F2E7"/>
                </a:solidFill>
                <a:latin typeface="Calibri"/>
              </a:rPr>
              <a:t>Any scan with findings caps at 99; only a clean scan shows 100.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 i="0">
                <a:solidFill>
                  <a:srgbClr val="1B2A24"/>
                </a:solidFill>
                <a:latin typeface="Calibri"/>
              </a:rPr>
              <a:t> 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D9F2E7"/>
                </a:solidFill>
                <a:latin typeface="Calibri"/>
              </a:rPr>
              <a:t>Aligns exactly with the green / amber / red thresholds.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9D6B"/>
                </a:solidFill>
                <a:latin typeface="Calibri"/>
              </a:rPr>
              <a:t>ENGINEERING JUDGMENT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0F3D2E"/>
                </a:solidFill>
                <a:latin typeface="Cambria"/>
              </a:rPr>
              <a:t>Architecture decisions (ADRs)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AA8A2"/>
                </a:solidFill>
                <a:latin typeface="Calibri"/>
              </a:rPr>
              <a:t>04 · THE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43737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AA8A2"/>
                </a:solidFill>
                <a:latin typeface="Calibri"/>
              </a:rPr>
              <a:t>Guardrail Auditor   </a:t>
            </a:r>
            <a:r>
              <a:rPr sz="950" b="1" i="0">
                <a:solidFill>
                  <a:srgbClr val="1F9D6B"/>
                </a:solidFill>
                <a:latin typeface="Calibri"/>
              </a:rPr>
              <a:t>·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A6B63"/>
                </a:solidFill>
                <a:latin typeface="Calibri"/>
              </a:rPr>
              <a:t>Every significant trade-off is documented and version-controlled.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1051560" cy="676656"/>
          </a:xfrm>
          <a:prstGeom prst="roundRect">
            <a:avLst>
              <a:gd name="adj" fmla="val 16000"/>
            </a:avLst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515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0001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83080" y="2194560"/>
            <a:ext cx="9784080" cy="676656"/>
          </a:xfrm>
          <a:prstGeom prst="roundRect">
            <a:avLst>
              <a:gd name="adj" fmla="val 8000"/>
            </a:avLst>
          </a:prstGeom>
          <a:solidFill>
            <a:srgbClr val="EE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400" y="2295144"/>
            <a:ext cx="9326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3D2E"/>
                </a:solidFill>
                <a:latin typeface="Calibri"/>
              </a:rPr>
              <a:t>Local-only dev &amp; verification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587752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6B63"/>
                </a:solidFill>
                <a:latin typeface="Calibri"/>
              </a:rPr>
              <a:t>No cloud cost or credential risk; reviewers run it free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80944"/>
            <a:ext cx="1051560" cy="676656"/>
          </a:xfrm>
          <a:prstGeom prst="roundRect">
            <a:avLst>
              <a:gd name="adj" fmla="val 16000"/>
            </a:avLst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80944"/>
            <a:ext cx="10515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0002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83080" y="2980944"/>
            <a:ext cx="9784080" cy="676656"/>
          </a:xfrm>
          <a:prstGeom prst="roundRect">
            <a:avLst>
              <a:gd name="adj" fmla="val 8000"/>
            </a:avLst>
          </a:prstGeom>
          <a:solidFill>
            <a:srgbClr val="EE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57400" y="3081527"/>
            <a:ext cx="9326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3D2E"/>
                </a:solidFill>
                <a:latin typeface="Calibri"/>
              </a:rPr>
              <a:t>Postgres over SQLite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374136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6B63"/>
                </a:solidFill>
                <a:latin typeface="Calibri"/>
              </a:rPr>
              <a:t>Mirrors the RDS deployment shape; durable audit trail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67328"/>
            <a:ext cx="1051560" cy="676656"/>
          </a:xfrm>
          <a:prstGeom prst="roundRect">
            <a:avLst>
              <a:gd name="adj" fmla="val 16000"/>
            </a:avLst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767328"/>
            <a:ext cx="10515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0003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83080" y="3767328"/>
            <a:ext cx="9784080" cy="676656"/>
          </a:xfrm>
          <a:prstGeom prst="roundRect">
            <a:avLst>
              <a:gd name="adj" fmla="val 8000"/>
            </a:avLst>
          </a:prstGeom>
          <a:solidFill>
            <a:srgbClr val="EE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57400" y="3867912"/>
            <a:ext cx="9326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3D2E"/>
                </a:solidFill>
                <a:latin typeface="Calibri"/>
              </a:rPr>
              <a:t>Focused text / JSON scan, no full HCL parser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4160520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6B63"/>
                </a:solidFill>
                <a:latin typeface="Calibri"/>
              </a:rPr>
              <a:t>Small, testable, MVP-appropriate — trade-off documented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553712"/>
            <a:ext cx="1051560" cy="676656"/>
          </a:xfrm>
          <a:prstGeom prst="roundRect">
            <a:avLst>
              <a:gd name="adj" fmla="val 16000"/>
            </a:avLst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553712"/>
            <a:ext cx="10515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0004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83080" y="4553712"/>
            <a:ext cx="9784080" cy="676656"/>
          </a:xfrm>
          <a:prstGeom prst="roundRect">
            <a:avLst>
              <a:gd name="adj" fmla="val 8000"/>
            </a:avLst>
          </a:prstGeom>
          <a:solidFill>
            <a:srgbClr val="EE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57400" y="4654296"/>
            <a:ext cx="9326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3D2E"/>
                </a:solidFill>
                <a:latin typeface="Calibri"/>
              </a:rPr>
              <a:t>Expose via API + CLI + Dashboard + SARIF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946904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6B63"/>
                </a:solidFill>
                <a:latin typeface="Calibri"/>
              </a:rPr>
              <a:t>One core, four audiences; CI fails without a web server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340096"/>
            <a:ext cx="1051560" cy="676656"/>
          </a:xfrm>
          <a:prstGeom prst="roundRect">
            <a:avLst>
              <a:gd name="adj" fmla="val 16000"/>
            </a:avLst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40096"/>
            <a:ext cx="10515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0005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783080" y="5340096"/>
            <a:ext cx="9784080" cy="676656"/>
          </a:xfrm>
          <a:prstGeom prst="roundRect">
            <a:avLst>
              <a:gd name="adj" fmla="val 8000"/>
            </a:avLst>
          </a:prstGeom>
          <a:solidFill>
            <a:srgbClr val="EE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57400" y="5440680"/>
            <a:ext cx="9326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3D2E"/>
                </a:solidFill>
                <a:latin typeface="Calibri"/>
              </a:rPr>
              <a:t>Normalized weighted risk score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5733288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6B63"/>
                </a:solidFill>
                <a:latin typeface="Calibri"/>
              </a:rPr>
              <a:t>Honest density that respects scope and severity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9D6B"/>
                </a:solidFill>
                <a:latin typeface="Calibri"/>
              </a:rPr>
              <a:t>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0F3D2E"/>
                </a:solidFill>
                <a:latin typeface="Cambria"/>
              </a:rPr>
              <a:t>A seven-stage CI/CD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AA8A2"/>
                </a:solidFill>
                <a:latin typeface="Calibri"/>
              </a:rPr>
              <a:t>04 · THE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43737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AA8A2"/>
                </a:solidFill>
                <a:latin typeface="Calibri"/>
              </a:rPr>
              <a:t>Guardrail Auditor   </a:t>
            </a:r>
            <a:r>
              <a:rPr sz="950" b="1" i="0">
                <a:solidFill>
                  <a:srgbClr val="1F9D6B"/>
                </a:solidFill>
                <a:latin typeface="Calibri"/>
              </a:rPr>
              <a:t>·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F3D2E"/>
                </a:solidFill>
                <a:latin typeface="Courier New"/>
              </a:rPr>
              <a:t>.github/workflows/ci-cd.yml</a:t>
            </a:r>
            <a:r>
              <a:rPr sz="1350" b="0" i="0">
                <a:solidFill>
                  <a:srgbClr val="5A6B63"/>
                </a:solidFill>
                <a:latin typeface="Calibri"/>
              </a:rPr>
              <a:t>  runs on every pull request and push to dev.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5394960" cy="841248"/>
          </a:xfrm>
          <a:prstGeom prst="roundRect">
            <a:avLst>
              <a:gd name="adj" fmla="val 10000"/>
            </a:avLst>
          </a:prstGeom>
          <a:solidFill>
            <a:srgbClr val="EEF4F1"/>
          </a:solidFill>
          <a:ln>
            <a:noFill/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59" y="2340864"/>
            <a:ext cx="457200" cy="457200"/>
          </a:xfrm>
          <a:prstGeom prst="ellipse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295144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3D2E"/>
                </a:solidFill>
                <a:latin typeface="Calibri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60604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A6B63"/>
                </a:solidFill>
                <a:latin typeface="Calibri"/>
              </a:rPr>
              <a:t>Ruff lint + Python unit &amp; functional tests on a Postgres 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72384"/>
            <a:ext cx="5394960" cy="841248"/>
          </a:xfrm>
          <a:prstGeom prst="roundRect">
            <a:avLst>
              <a:gd name="adj" fmla="val 10000"/>
            </a:avLst>
          </a:prstGeom>
          <a:solidFill>
            <a:srgbClr val="EEF4F1"/>
          </a:solidFill>
          <a:ln>
            <a:noFill/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59" y="3264408"/>
            <a:ext cx="457200" cy="457200"/>
          </a:xfrm>
          <a:prstGeom prst="ellipse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3218688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3D2E"/>
                </a:solidFill>
                <a:latin typeface="Calibri"/>
              </a:rPr>
              <a:t>Code scanning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3529584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A6B63"/>
                </a:solidFill>
                <a:latin typeface="Calibri"/>
              </a:rPr>
              <a:t>Generate SARIF → upload to GitHub Code Scanning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995928"/>
            <a:ext cx="5394960" cy="841248"/>
          </a:xfrm>
          <a:prstGeom prst="roundRect">
            <a:avLst>
              <a:gd name="adj" fmla="val 10000"/>
            </a:avLst>
          </a:prstGeom>
          <a:solidFill>
            <a:srgbClr val="EEF4F1"/>
          </a:solidFill>
          <a:ln>
            <a:noFill/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59" y="4187952"/>
            <a:ext cx="457200" cy="457200"/>
          </a:xfrm>
          <a:prstGeom prst="ellipse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4142232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3D2E"/>
                </a:solidFill>
                <a:latin typeface="Calibri"/>
              </a:rPr>
              <a:t>Guardrail CLI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4453128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A6B63"/>
                </a:solidFill>
                <a:latin typeface="Calibri"/>
              </a:rPr>
              <a:t>Risky fixtures must fail, clean fixtures pass on --fail-on critical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919472"/>
            <a:ext cx="5394960" cy="841248"/>
          </a:xfrm>
          <a:prstGeom prst="roundRect">
            <a:avLst>
              <a:gd name="adj" fmla="val 10000"/>
            </a:avLst>
          </a:prstGeom>
          <a:solidFill>
            <a:srgbClr val="EEF4F1"/>
          </a:solidFill>
          <a:ln>
            <a:noFill/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59" y="5111496"/>
            <a:ext cx="457200" cy="457200"/>
          </a:xfrm>
          <a:prstGeom prst="ellipse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5065776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3D2E"/>
                </a:solidFill>
                <a:latin typeface="Calibri"/>
              </a:rPr>
              <a:t>Frontend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5376672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A6B63"/>
                </a:solidFill>
                <a:latin typeface="Calibri"/>
              </a:rPr>
              <a:t>ESLint + Vite build + Playwright (desktop &amp; mobile)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148840"/>
            <a:ext cx="5394960" cy="841248"/>
          </a:xfrm>
          <a:prstGeom prst="roundRect">
            <a:avLst>
              <a:gd name="adj" fmla="val 10000"/>
            </a:avLst>
          </a:prstGeom>
          <a:solidFill>
            <a:srgbClr val="EEF4F1"/>
          </a:solidFill>
          <a:ln>
            <a:noFill/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55080" y="2340864"/>
            <a:ext cx="457200" cy="457200"/>
          </a:xfrm>
          <a:prstGeom prst="ellipse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3448" y="2295144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3D2E"/>
                </a:solidFill>
                <a:latin typeface="Calibri"/>
              </a:rPr>
              <a:t>Terraform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3448" y="260604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A6B63"/>
                </a:solidFill>
                <a:latin typeface="Calibri"/>
              </a:rPr>
              <a:t>fmt -check + init + validate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3072384"/>
            <a:ext cx="5394960" cy="841248"/>
          </a:xfrm>
          <a:prstGeom prst="roundRect">
            <a:avLst>
              <a:gd name="adj" fmla="val 10000"/>
            </a:avLst>
          </a:prstGeom>
          <a:solidFill>
            <a:srgbClr val="EEF4F1"/>
          </a:solidFill>
          <a:ln>
            <a:noFill/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55080" y="3264408"/>
            <a:ext cx="457200" cy="457200"/>
          </a:xfrm>
          <a:prstGeom prst="ellipse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13448" y="3218688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3D2E"/>
                </a:solidFill>
                <a:latin typeface="Calibri"/>
              </a:rPr>
              <a:t>Docker build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13448" y="3529584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A6B63"/>
                </a:solidFill>
                <a:latin typeface="Calibri"/>
              </a:rPr>
              <a:t>Image built only after every gate passes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3995928"/>
            <a:ext cx="5394960" cy="841248"/>
          </a:xfrm>
          <a:prstGeom prst="roundRect">
            <a:avLst>
              <a:gd name="adj" fmla="val 10000"/>
            </a:avLst>
          </a:prstGeom>
          <a:solidFill>
            <a:srgbClr val="EEF4F1"/>
          </a:solidFill>
          <a:ln>
            <a:noFill/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55080" y="4187952"/>
            <a:ext cx="457200" cy="45720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13448" y="4142232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F3D2E"/>
                </a:solidFill>
                <a:latin typeface="Calibri"/>
              </a:rPr>
              <a:t>Deploy (gated)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13448" y="4453128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A6B63"/>
                </a:solidFill>
                <a:latin typeface="Calibri"/>
              </a:rPr>
              <a:t>OIDC → Terraform S3 backend → ECS / RDS / ALB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4919472"/>
            <a:ext cx="5394960" cy="841248"/>
          </a:xfrm>
          <a:prstGeom prst="roundRect">
            <a:avLst>
              <a:gd name="adj" fmla="val 10000"/>
            </a:avLst>
          </a:prstGeom>
          <a:solidFill>
            <a:srgbClr val="0F3D2E"/>
          </a:solidFill>
          <a:ln>
            <a:noFill/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502920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D9F2E7"/>
                </a:solidFill>
                <a:latin typeface="Calibri"/>
              </a:rPr>
              <a:t>Plus  </a:t>
            </a:r>
            <a:r>
              <a:rPr sz="1250" b="1" i="0">
                <a:solidFill>
                  <a:srgbClr val="FFFFFF"/>
                </a:solidFill>
                <a:latin typeface="Calibri"/>
              </a:rPr>
              <a:t>Dependabot</a:t>
            </a:r>
            <a:r>
              <a:rPr sz="1250" b="0" i="0">
                <a:solidFill>
                  <a:srgbClr val="D9F2E7"/>
                </a:solidFill>
                <a:latin typeface="Calibri"/>
              </a:rPr>
              <a:t> (grouped weekly PR) and a  </a:t>
            </a:r>
            <a:r>
              <a:rPr sz="1250" b="1" i="0">
                <a:solidFill>
                  <a:srgbClr val="FFFFFF"/>
                </a:solidFill>
                <a:latin typeface="Calibri"/>
              </a:rPr>
              <a:t>pre-commit</a:t>
            </a:r>
            <a:r>
              <a:rPr sz="1250" b="0" i="0">
                <a:solidFill>
                  <a:srgbClr val="D9F2E7"/>
                </a:solidFill>
                <a:latin typeface="Calibri"/>
              </a:rPr>
              <a:t> gate mirroring CI.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9D6B"/>
                </a:solidFill>
                <a:latin typeface="Calibri"/>
              </a:rPr>
              <a:t>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0F3D2E"/>
                </a:solidFill>
                <a:latin typeface="Cambria"/>
              </a:rPr>
              <a:t>The guardrail tool is itself guarded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AA8A2"/>
                </a:solidFill>
                <a:latin typeface="Calibri"/>
              </a:rPr>
              <a:t>04 · THE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43737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AA8A2"/>
                </a:solidFill>
                <a:latin typeface="Calibri"/>
              </a:rPr>
              <a:t>Guardrail Auditor   </a:t>
            </a:r>
            <a:r>
              <a:rPr sz="950" b="1" i="0">
                <a:solidFill>
                  <a:srgbClr val="1F9D6B"/>
                </a:solidFill>
                <a:latin typeface="Calibri"/>
              </a:rPr>
              <a:t>·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2670048" cy="2240280"/>
          </a:xfrm>
          <a:prstGeom prst="roundRect">
            <a:avLst>
              <a:gd name="adj" fmla="val 7000"/>
            </a:avLst>
          </a:prstGeom>
          <a:solidFill>
            <a:srgbClr val="EEF4F1"/>
          </a:solidFill>
          <a:ln>
            <a:noFill/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221284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1F9D6B"/>
                </a:solidFill>
                <a:latin typeface="Cambria"/>
              </a:rPr>
              <a:t>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35808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F3D2E"/>
                </a:solidFill>
                <a:latin typeface="Calibri"/>
              </a:rPr>
              <a:t>Python tests passing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29000"/>
            <a:ext cx="22128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63"/>
                </a:solidFill>
                <a:latin typeface="Calibri"/>
              </a:rPr>
              <a:t>scanner · API · CLI · SARIF · migrations · observability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783080"/>
            <a:ext cx="2670048" cy="2240280"/>
          </a:xfrm>
          <a:prstGeom prst="roundRect">
            <a:avLst>
              <a:gd name="adj" fmla="val 7000"/>
            </a:avLst>
          </a:prstGeom>
          <a:solidFill>
            <a:srgbClr val="EEF4F1"/>
          </a:solidFill>
          <a:ln>
            <a:noFill/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011680"/>
            <a:ext cx="221284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0F3D2E"/>
                </a:solidFill>
                <a:latin typeface="Cambria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035808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F3D2E"/>
                </a:solidFill>
                <a:latin typeface="Calibri"/>
              </a:rPr>
              <a:t>Statement 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429000"/>
            <a:ext cx="22128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63"/>
                </a:solidFill>
                <a:latin typeface="Calibri"/>
              </a:rPr>
              <a:t>841 / 841 lines — gated in CI at --fail-under=100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783080"/>
            <a:ext cx="2670048" cy="2240280"/>
          </a:xfrm>
          <a:prstGeom prst="roundRect">
            <a:avLst>
              <a:gd name="adj" fmla="val 7000"/>
            </a:avLst>
          </a:prstGeom>
          <a:solidFill>
            <a:srgbClr val="EEF4F1"/>
          </a:solidFill>
          <a:ln>
            <a:noFill/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011680"/>
            <a:ext cx="221284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2C5F2D"/>
                </a:solidFill>
                <a:latin typeface="Cambria"/>
              </a:rPr>
              <a:t>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035808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F3D2E"/>
                </a:solidFill>
                <a:latin typeface="Calibri"/>
              </a:rPr>
              <a:t>Playwright runs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429000"/>
            <a:ext cx="22128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63"/>
                </a:solidFill>
                <a:latin typeface="Calibri"/>
              </a:rPr>
              <a:t>18 specs across desktop &amp; mobile Chromium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39" y="1783080"/>
            <a:ext cx="2670048" cy="2240280"/>
          </a:xfrm>
          <a:prstGeom prst="roundRect">
            <a:avLst>
              <a:gd name="adj" fmla="val 7000"/>
            </a:avLst>
          </a:prstGeom>
          <a:solidFill>
            <a:srgbClr val="EEF4F1"/>
          </a:solidFill>
          <a:ln>
            <a:noFill/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39" y="2011680"/>
            <a:ext cx="221284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1F9D6B"/>
                </a:solidFill>
                <a:latin typeface="Cambria"/>
              </a:rPr>
              <a:t>58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39" y="3035808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F3D2E"/>
                </a:solidFill>
                <a:latin typeface="Calibri"/>
              </a:rPr>
              <a:t>Logged prompts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39" y="3429000"/>
            <a:ext cx="22128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63"/>
                </a:solidFill>
                <a:latin typeface="Calibri"/>
              </a:rPr>
              <a:t>every instruction captured in prompts.md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297680"/>
            <a:ext cx="10927080" cy="1783080"/>
          </a:xfrm>
          <a:prstGeom prst="roundRect">
            <a:avLst>
              <a:gd name="adj" fmla="val 6000"/>
            </a:avLst>
          </a:prstGeom>
          <a:solidFill>
            <a:srgbClr val="0F3D2E"/>
          </a:solidFill>
          <a:ln>
            <a:noFill/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526280"/>
            <a:ext cx="69494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9F2E7"/>
                </a:solidFill>
                <a:latin typeface="Courier New"/>
              </a:rPr>
              <a:t>$ ./scripts/test-coverage.sh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ourier New"/>
              </a:rPr>
              <a:t>TOTAL      841 stmts      0 missed      100%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F9D6B"/>
                </a:solidFill>
                <a:latin typeface="Courier New"/>
              </a:rPr>
              <a:t>71 passed in 2.55s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4553712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D9F2E7"/>
                </a:solidFill>
                <a:latin typeface="Calibri"/>
              </a:rPr>
              <a:t>Coverage spans scanner, API, CLI, SARIF, migrations, observability and config — a 100% gate keeps it there.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9D6B"/>
                </a:solidFill>
                <a:latin typeface="Calibri"/>
              </a:rPr>
              <a:t>CLOUD POSTURE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0F3D2E"/>
                </a:solidFill>
                <a:latin typeface="Cambria"/>
              </a:rPr>
              <a:t>Deploy-ready, never auto-applied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AA8A2"/>
                </a:solidFill>
                <a:latin typeface="Calibri"/>
              </a:rPr>
              <a:t>04 · THE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43737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AA8A2"/>
                </a:solidFill>
                <a:latin typeface="Calibri"/>
              </a:rPr>
              <a:t>Guardrail Auditor   </a:t>
            </a:r>
            <a:r>
              <a:rPr sz="950" b="1" i="0">
                <a:solidFill>
                  <a:srgbClr val="1F9D6B"/>
                </a:solidFill>
                <a:latin typeface="Calibri"/>
              </a:rPr>
              <a:t>·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394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1B2A24"/>
                </a:solidFill>
                <a:latin typeface="Calibri"/>
              </a:rPr>
              <a:t>Full Terraform under terraform/ provisions a realistic production stack — but the agent workspace never provisions cloud.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191256"/>
            <a:ext cx="128016" cy="128016"/>
          </a:xfrm>
          <a:prstGeom prst="ellipse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B2A24"/>
                </a:solidFill>
                <a:latin typeface="Calibri"/>
              </a:rPr>
              <a:t>ECS Fargate behind an Application Load Balancer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794760"/>
            <a:ext cx="128016" cy="128016"/>
          </a:xfrm>
          <a:prstGeom prst="ellipse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58184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B2A24"/>
                </a:solidFill>
                <a:latin typeface="Calibri"/>
              </a:rPr>
              <a:t>RDS Postgres for scan history · ECR for images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398264"/>
            <a:ext cx="128016" cy="128016"/>
          </a:xfrm>
          <a:prstGeom prst="ellipse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61688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B2A24"/>
                </a:solidFill>
                <a:latin typeface="Calibri"/>
              </a:rPr>
              <a:t>Secrets Manager, IAM roles, CloudWatch logging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5001768"/>
            <a:ext cx="128016" cy="128016"/>
          </a:xfrm>
          <a:prstGeom prst="ellipse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65192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B2A24"/>
                </a:solidFill>
                <a:latin typeface="Calibri"/>
              </a:rPr>
              <a:t>State in S3 + DynamoDB lock; GitHub OIDC — no long-lived keys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783080"/>
            <a:ext cx="5212080" cy="4206240"/>
          </a:xfrm>
          <a:prstGeom prst="roundRect">
            <a:avLst>
              <a:gd name="adj" fmla="val 6000"/>
            </a:avLst>
          </a:prstGeom>
          <a:solidFill>
            <a:srgbClr val="0F3D2E"/>
          </a:solidFill>
          <a:ln>
            <a:noFill/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75120" y="2121408"/>
            <a:ext cx="384048" cy="384048"/>
          </a:xfrm>
          <a:prstGeom prst="ellipse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157984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Cloud judgment without cloud 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880360"/>
            <a:ext cx="461772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D9F2E7"/>
                </a:solidFill>
                <a:latin typeface="Calibri"/>
              </a:rPr>
              <a:t>Deployment runs only when explicit repository variables and credentials are configured.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1B2A24"/>
                </a:solidFill>
                <a:latin typeface="Calibri"/>
              </a:rPr>
              <a:t> 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D9F2E7"/>
                </a:solidFill>
                <a:latin typeface="Calibri"/>
              </a:rPr>
              <a:t>This honors the challenge’s “delete all cloud resources” rule by default — the stack is demonstrable on paper and one config away from live, with zero standing spend.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3D2E"/>
              </a:gs>
              <a:gs pos="100000">
                <a:srgbClr val="07241B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0" y="274320"/>
            <a:ext cx="5486400" cy="6583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2000" b="1" i="0">
                <a:solidFill>
                  <a:srgbClr val="1B5541"/>
                </a:solidFill>
                <a:latin typeface="Cambria"/>
              </a:rPr>
              <a:t>05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2761488"/>
            <a:ext cx="146304" cy="146304"/>
          </a:xfrm>
          <a:prstGeom prst="ellipse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9D6B"/>
                </a:solidFill>
                <a:latin typeface="Calibri"/>
              </a:rPr>
              <a:t>ACT FIVE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749807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Cambria"/>
              </a:rPr>
              <a:t>The horizon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663440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D9F2E7"/>
                </a:solidFill>
                <a:latin typeface="Calibri"/>
              </a:rPr>
              <a:t>Where the architecture goes next — each enhancement already has a clear seam.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9D6B"/>
                </a:solidFill>
                <a:latin typeface="Calibri"/>
              </a:rP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0F3D2E"/>
                </a:solidFill>
                <a:latin typeface="Cambria"/>
              </a:rPr>
              <a:t>A roadmap with clear seams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AA8A2"/>
                </a:solidFill>
                <a:latin typeface="Calibri"/>
              </a:rPr>
              <a:t>05 · THE HORIZON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643737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AA8A2"/>
                </a:solidFill>
                <a:latin typeface="Calibri"/>
              </a:rPr>
              <a:t>Guardrail Auditor   </a:t>
            </a:r>
            <a:r>
              <a:rPr sz="950" b="1" i="0">
                <a:solidFill>
                  <a:srgbClr val="1F9D6B"/>
                </a:solidFill>
                <a:latin typeface="Calibri"/>
              </a:rPr>
              <a:t>·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5394960" cy="1207008"/>
          </a:xfrm>
          <a:prstGeom prst="roundRect">
            <a:avLst>
              <a:gd name="adj" fmla="val 9000"/>
            </a:avLst>
          </a:prstGeom>
          <a:solidFill>
            <a:srgbClr val="EEF4F1"/>
          </a:solidFill>
          <a:ln>
            <a:noFill/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103120"/>
            <a:ext cx="384048" cy="384048"/>
          </a:xfrm>
          <a:prstGeom prst="ellipse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2039112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3D2E"/>
                </a:solidFill>
                <a:latin typeface="Calibri"/>
              </a:rPr>
              <a:t>Deeper Terraform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2404872"/>
            <a:ext cx="4434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6B63"/>
                </a:solidFill>
                <a:latin typeface="Calibri"/>
              </a:rPr>
              <a:t>Swap focused text rules for a real HCL parser — modules, variables, dynamic blocks.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74519"/>
            <a:ext cx="5394960" cy="1207008"/>
          </a:xfrm>
          <a:prstGeom prst="roundRect">
            <a:avLst>
              <a:gd name="adj" fmla="val 9000"/>
            </a:avLst>
          </a:prstGeom>
          <a:solidFill>
            <a:srgbClr val="EEF4F1"/>
          </a:solidFill>
          <a:ln>
            <a:noFill/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0" y="2103120"/>
            <a:ext cx="384048" cy="384048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039112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3D2E"/>
                </a:solidFill>
                <a:latin typeface="Calibri"/>
              </a:rPr>
              <a:t>LLM fallback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404872"/>
            <a:ext cx="4434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6B63"/>
                </a:solidFill>
                <a:latin typeface="Calibri"/>
              </a:rPr>
              <a:t>Call a model only when deterministic rules find nothing; off by default for free, predictable CI.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64408"/>
            <a:ext cx="5394960" cy="1207008"/>
          </a:xfrm>
          <a:prstGeom prst="roundRect">
            <a:avLst>
              <a:gd name="adj" fmla="val 9000"/>
            </a:avLst>
          </a:prstGeom>
          <a:solidFill>
            <a:srgbClr val="EEF4F1"/>
          </a:solidFill>
          <a:ln>
            <a:noFill/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3493008"/>
            <a:ext cx="384048" cy="384048"/>
          </a:xfrm>
          <a:prstGeom prst="ellipse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19" y="3429000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3D2E"/>
                </a:solidFill>
                <a:latin typeface="Calibri"/>
              </a:rPr>
              <a:t>Policy-as-code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3794759"/>
            <a:ext cx="4434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6B63"/>
                </a:solidFill>
                <a:latin typeface="Calibri"/>
              </a:rPr>
              <a:t>OPA / Rego custom org baselines; rule severities as configuration.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264408"/>
            <a:ext cx="5394960" cy="1207008"/>
          </a:xfrm>
          <a:prstGeom prst="roundRect">
            <a:avLst>
              <a:gd name="adj" fmla="val 9000"/>
            </a:avLst>
          </a:prstGeom>
          <a:solidFill>
            <a:srgbClr val="EEF4F1"/>
          </a:solidFill>
          <a:ln>
            <a:noFill/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0" y="3493008"/>
            <a:ext cx="384048" cy="384048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429000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3D2E"/>
                </a:solidFill>
                <a:latin typeface="Calibri"/>
              </a:rPr>
              <a:t>Alerting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794759"/>
            <a:ext cx="4434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6B63"/>
                </a:solidFill>
                <a:latin typeface="Calibri"/>
              </a:rPr>
              <a:t>Slack / webhook notifications on regression or critical findings.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654296"/>
            <a:ext cx="5394960" cy="1207008"/>
          </a:xfrm>
          <a:prstGeom prst="roundRect">
            <a:avLst>
              <a:gd name="adj" fmla="val 9000"/>
            </a:avLst>
          </a:prstGeom>
          <a:solidFill>
            <a:srgbClr val="EEF4F1"/>
          </a:solidFill>
          <a:ln>
            <a:noFill/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8680" y="4882896"/>
            <a:ext cx="384048" cy="384048"/>
          </a:xfrm>
          <a:prstGeom prst="ellipse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4818888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3D2E"/>
                </a:solidFill>
                <a:latin typeface="Calibri"/>
              </a:rPr>
              <a:t>Multi-tenant + authz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19" y="5184648"/>
            <a:ext cx="4434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6B63"/>
                </a:solidFill>
                <a:latin typeface="Calibri"/>
              </a:rPr>
              <a:t>Teams, projects and role-based access control.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654296"/>
            <a:ext cx="5394960" cy="1207008"/>
          </a:xfrm>
          <a:prstGeom prst="roundRect">
            <a:avLst>
              <a:gd name="adj" fmla="val 9000"/>
            </a:avLst>
          </a:prstGeom>
          <a:solidFill>
            <a:srgbClr val="EEF4F1"/>
          </a:solidFill>
          <a:ln>
            <a:noFill/>
          </a:ln>
          <a:effectLst/>
          <a:effectLst>
            <a:outerShdw blurRad="90000" dist="38000" dir="5400000" rotWithShape="0">
              <a:srgbClr val="0B2A2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4882896"/>
            <a:ext cx="384048" cy="384048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4818888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3D2E"/>
                </a:solidFill>
                <a:latin typeface="Calibri"/>
              </a:rPr>
              <a:t>Scheduled scans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5184648"/>
            <a:ext cx="4434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6B63"/>
                </a:solidFill>
                <a:latin typeface="Calibri"/>
              </a:rPr>
              <a:t>Track risk posture across repositories over time.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3D2E"/>
              </a:gs>
              <a:gs pos="100000">
                <a:srgbClr val="07241B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3931920"/>
            <a:ext cx="3108960" cy="3108960"/>
          </a:xfrm>
          <a:prstGeom prst="ellipse">
            <a:avLst/>
          </a:prstGeom>
          <a:noFill/>
          <a:ln w="25400">
            <a:solidFill>
              <a:srgbClr val="1B5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" y="841248"/>
            <a:ext cx="146304" cy="146304"/>
          </a:xfrm>
          <a:prstGeom prst="ellipse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7315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F9D6B"/>
                </a:solidFill>
                <a:latin typeface="Calibri"/>
              </a:rPr>
              <a:t>IN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607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A production-shaped guardrail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auditor, delivered by directing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an AI agent end-to-end.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3264408"/>
            <a:ext cx="256032" cy="256032"/>
          </a:xfrm>
          <a:prstGeom prst="ellipse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24612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D9F2E7"/>
                </a:solidFill>
                <a:latin typeface="Calibri"/>
              </a:rPr>
              <a:t>Tagle Tag — Connector, Foundation Operator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739896"/>
            <a:ext cx="256032" cy="256032"/>
          </a:xfrm>
          <a:prstGeom prst="ellipse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72160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D9F2E7"/>
                </a:solidFill>
                <a:latin typeface="Calibri"/>
              </a:rPr>
              <a:t>Public GitHub repository — all source code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215383"/>
            <a:ext cx="256032" cy="256032"/>
          </a:xfrm>
          <a:prstGeom prst="ellipse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197096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D9F2E7"/>
                </a:solidFill>
                <a:latin typeface="Calibri"/>
              </a:rPr>
              <a:t>prompts.md — full 58-prompt audit log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690871"/>
            <a:ext cx="256032" cy="256032"/>
          </a:xfrm>
          <a:prstGeom prst="ellipse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672583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D9F2E7"/>
                </a:solidFill>
                <a:latin typeface="Calibri"/>
              </a:rPr>
              <a:t>This AI-generated deck — PPTX + Markdown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5166359"/>
            <a:ext cx="256032" cy="256032"/>
          </a:xfrm>
          <a:prstGeom prst="ellipse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148071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D9F2E7"/>
                </a:solidFill>
                <a:latin typeface="Calibri"/>
              </a:rPr>
              <a:t>Cloud cleanup — local-only; nothing provisioned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5943600"/>
            <a:ext cx="7589520" cy="548640"/>
          </a:xfrm>
          <a:prstGeom prst="roundRect">
            <a:avLst>
              <a:gd name="adj" fmla="val 50000"/>
            </a:avLst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943600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Python · API-first · Postgres · 100% coverage · CI/CD · SARIF · Terraform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